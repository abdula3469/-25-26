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AB07A26-2A7D-4DFD-86BE-FC4CBB4CAE74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EBC40A5-0129-4196-8AAE-53857FA79D3A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340916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A26-2A7D-4DFD-86BE-FC4CBB4CAE74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40A5-0129-4196-8AAE-53857FA79D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9015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AB07A26-2A7D-4DFD-86BE-FC4CBB4CAE74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BC40A5-0129-4196-8AAE-53857FA79D3A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6903735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A26-2A7D-4DFD-86BE-FC4CBB4CAE74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40A5-0129-4196-8AAE-53857FA79D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380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A26-2A7D-4DFD-86BE-FC4CBB4CAE74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40A5-0129-4196-8AAE-53857FA79D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2272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A26-2A7D-4DFD-86BE-FC4CBB4CAE74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40A5-0129-4196-8AAE-53857FA79D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8232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A26-2A7D-4DFD-86BE-FC4CBB4CAE74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40A5-0129-4196-8AAE-53857FA79D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4039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AB07A26-2A7D-4DFD-86BE-FC4CBB4CAE74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BC40A5-0129-4196-8AAE-53857FA79D3A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04926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AB07A26-2A7D-4DFD-86BE-FC4CBB4CAE74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BC40A5-0129-4196-8AAE-53857FA79D3A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50026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A26-2A7D-4DFD-86BE-FC4CBB4CAE74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40A5-0129-4196-8AAE-53857FA79D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287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A26-2A7D-4DFD-86BE-FC4CBB4CAE74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40A5-0129-4196-8AAE-53857FA79D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2065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DAB07A26-2A7D-4DFD-86BE-FC4CBB4CAE74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EBC40A5-0129-4196-8AAE-53857FA79D3A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58138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D4681E-2F7B-4639-B466-019BC991AB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3200" b="0" i="0" dirty="0">
                <a:solidFill>
                  <a:srgbClr val="0F1115"/>
                </a:solidFill>
                <a:effectLst/>
                <a:latin typeface="quote-cjk-patch"/>
              </a:rPr>
              <a:t>Выпускная квалификационная работа</a:t>
            </a:r>
            <a:r>
              <a:rPr lang="en-US" sz="32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sz="3200" dirty="0">
                <a:solidFill>
                  <a:srgbClr val="0F1115"/>
                </a:solidFill>
                <a:latin typeface="quote-cjk-patch"/>
              </a:rPr>
              <a:t>на тему </a:t>
            </a:r>
            <a:r>
              <a:rPr lang="en-US" sz="3200" dirty="0">
                <a:solidFill>
                  <a:srgbClr val="0F1115"/>
                </a:solidFill>
                <a:latin typeface="quote-cjk-patch"/>
              </a:rPr>
              <a:t>“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quote-cjk-patch"/>
              </a:rPr>
              <a:t>Генерация и верификация SPARQL-запросов с использованием LLM для навигации по графам знаний</a:t>
            </a:r>
            <a:r>
              <a:rPr lang="en-US" sz="3200" b="0" i="0" dirty="0">
                <a:solidFill>
                  <a:srgbClr val="0F1115"/>
                </a:solidFill>
                <a:effectLst/>
                <a:latin typeface="quote-cjk-patch"/>
              </a:rPr>
              <a:t>”</a:t>
            </a:r>
            <a:endParaRPr lang="ru-RU" sz="3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C9762C-4D33-42A5-8D04-5B5533B8C8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Студент: 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Запиров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 А. М.</a:t>
            </a:r>
          </a:p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Научный руководитель: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Атаева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О. 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2793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C25366-CDD4-4B97-B4ED-8209F641B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Проблема и цель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973E43-0C61-49CA-A47A-5797CA0B8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Проблема: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Графы знаний — мощный инструмент для анализа связанных данных (RDF, SPARQL).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Высокий технический барьер: для работы требуется знание сложного языка SPARQL.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Специалисты предметной области не могут самостоятельно извлекать данные → зависимость от разработчиков, потеря времени.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Цель работы: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Разработать прототип системы, которая позволяет формулировать запросы к графу знаний на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естественном языке (русском)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и автоматически преобразует их в корректные SPARQL-запросы с последующей проверкой.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6308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CCB622-4A01-4D7E-8BAB-6B0646358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Источники данных и методы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8B7C6F-5938-4F17-B1C9-002B3935E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Предметная область: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Данные: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Семантические графы знаний, доступные через SPARQL-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эндпоинт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(например, корпоративные онтологии, открытые базы вроде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Wikidata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DBpedia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Стек технологий: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Анализ W3C стандартов (RDF, SPARQL, OWL) и современных NLP-решений.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Ключевые методы решения: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NL-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to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-SPARQL: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Преобразование естественного языка в формальный запрос.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Использование Больших Языковых Моделей (LLM):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Современный подход, основанный на контекстном обучении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few-shot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prompting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), вместо устаревших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rule-based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систем.</a:t>
            </a:r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7487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95E29C9-7829-4A5C-8934-C1C76C51C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Почему LLM и локальное развертывание?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Точность и гибкость: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Модели типа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Mistral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Llama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понимают контекст и сложные формулировки.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Безопасность: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Локальное развертывание исключает передачу конфиденциальных корпоративных данных и онтологий внешним сервисам.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Актуальность: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Соответствие трендам на демократизацию доступа к данным с помощью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GenAI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Выбранный стек: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LLM ядро: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Mistral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7B (оптимальное качество/ресурсы).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Развертывание LLM: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Ollama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Backend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Python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FastAPI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),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RDFLib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SPARQLWrapper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Frontend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Vue.js/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Quasar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Framework.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Контейнеризация: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Docker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939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4CDCE4-DDCA-4D51-B9C8-CED1CBF5D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Что уже выполнено?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7D9547-723B-45F3-B4D1-D2B15E08A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 algn="l">
              <a:buFont typeface="+mj-lt"/>
              <a:buAutoNum type="romanU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Создан рабочий прототип на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python 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с использованием фреймворка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Ollama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 для локального запуска модели.</a:t>
            </a:r>
          </a:p>
          <a:p>
            <a:pPr marL="514350" indent="-514350" algn="l">
              <a:buFont typeface="+mj-lt"/>
              <a:buAutoNum type="romanUcPeriod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Подготовлен 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датасет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 из 50 примеров пар «вопрос на русском 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– SPARQL 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для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wikidata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».</a:t>
            </a:r>
          </a:p>
          <a:p>
            <a:pPr marL="514350" indent="-514350" algn="l">
              <a:buFont typeface="+mj-lt"/>
              <a:buAutoNum type="romanU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Разработаны и протестированы различные шаблоны промптов для 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LLM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marL="514350" indent="-514350" algn="l">
              <a:buFont typeface="+mj-lt"/>
              <a:buAutoNum type="romanU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Си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стема успешно генерирует базовые 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SPARQL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-запросы.</a:t>
            </a:r>
          </a:p>
          <a:p>
            <a:pPr marL="514350" indent="-514350" algn="l">
              <a:buFont typeface="+mj-lt"/>
              <a:buAutoNum type="romanU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Реализован механизм постобработки, исправляющий типичные синтаксические ошибки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.</a:t>
            </a:r>
          </a:p>
          <a:p>
            <a:pPr marL="514350" indent="-514350" algn="l">
              <a:buFont typeface="+mj-lt"/>
              <a:buAutoNum type="romanU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Достигнута базовая функциональность, подтверждающая жизнеспособность продукта.</a:t>
            </a:r>
          </a:p>
        </p:txBody>
      </p:sp>
    </p:spTree>
    <p:extLst>
      <p:ext uri="{BB962C8B-B14F-4D97-AF65-F5344CB8AC3E}">
        <p14:creationId xmlns:p14="http://schemas.microsoft.com/office/powerpoint/2010/main" val="1332502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3A7279-A078-4CEF-8583-1C02279DC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План дальнейших работ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3A1966-0CAF-4865-B80E-5B7EDA683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romanUcPeriod"/>
            </a:pPr>
            <a:r>
              <a:rPr lang="ru-RU" dirty="0"/>
              <a:t>Расширение </a:t>
            </a:r>
            <a:r>
              <a:rPr lang="ru-RU" dirty="0" err="1"/>
              <a:t>датасета</a:t>
            </a:r>
            <a:r>
              <a:rPr lang="ru-RU" dirty="0"/>
              <a:t>, включая добавление более сложных запросов.</a:t>
            </a:r>
          </a:p>
          <a:p>
            <a:pPr marL="514350" indent="-514350">
              <a:buFont typeface="+mj-lt"/>
              <a:buAutoNum type="romanUcPeriod"/>
            </a:pPr>
            <a:r>
              <a:rPr lang="ru-RU" dirty="0"/>
              <a:t>Тонкая настройка базовой модели</a:t>
            </a:r>
            <a:r>
              <a:rPr lang="en-US" dirty="0"/>
              <a:t> Mistral</a:t>
            </a:r>
            <a:r>
              <a:rPr lang="ru-RU" dirty="0"/>
              <a:t>, для лучшего понимания синтаксиса и семантики </a:t>
            </a:r>
            <a:r>
              <a:rPr lang="en-US" dirty="0" err="1"/>
              <a:t>Wikidata</a:t>
            </a:r>
            <a:r>
              <a:rPr lang="ru-RU" dirty="0"/>
              <a:t>.</a:t>
            </a:r>
          </a:p>
          <a:p>
            <a:pPr marL="514350" indent="-514350">
              <a:buFont typeface="+mj-lt"/>
              <a:buAutoNum type="romanUcPeriod"/>
            </a:pPr>
            <a:r>
              <a:rPr lang="ru-RU" dirty="0"/>
              <a:t>Углубление семантической проверки для борьбы с «</a:t>
            </a:r>
            <a:r>
              <a:rPr lang="ru-RU" dirty="0" err="1"/>
              <a:t>галлюцинциями</a:t>
            </a:r>
            <a:r>
              <a:rPr lang="ru-RU" dirty="0"/>
              <a:t>» модели</a:t>
            </a:r>
          </a:p>
          <a:p>
            <a:pPr marL="514350" indent="-514350">
              <a:buFont typeface="+mj-lt"/>
              <a:buAutoNum type="romanUcPeriod"/>
            </a:pPr>
            <a:r>
              <a:rPr lang="ru-RU" dirty="0"/>
              <a:t>Разработка удобного веб-интерфейса.</a:t>
            </a:r>
          </a:p>
        </p:txBody>
      </p:sp>
    </p:spTree>
    <p:extLst>
      <p:ext uri="{BB962C8B-B14F-4D97-AF65-F5344CB8AC3E}">
        <p14:creationId xmlns:p14="http://schemas.microsoft.com/office/powerpoint/2010/main" val="3654934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28922E-FB14-48EC-905F-438122162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Ожидаемый результат и значимость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BBF4F6-C9EE-4CC3-A0ED-34B30D4DF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romanUcPeriod"/>
            </a:pPr>
            <a:r>
              <a:rPr lang="ru-RU" dirty="0"/>
              <a:t>Готовое к эксплуатации программное решение с веб-интерфейсом, позволяющее пользователям задавать вопросы на русском языке и получать корректные данные из </a:t>
            </a:r>
            <a:r>
              <a:rPr lang="en-US" dirty="0" err="1"/>
              <a:t>wikidata</a:t>
            </a:r>
            <a:r>
              <a:rPr lang="en-US" dirty="0"/>
              <a:t> </a:t>
            </a:r>
            <a:r>
              <a:rPr lang="ru-RU" dirty="0"/>
              <a:t>без знания </a:t>
            </a:r>
            <a:r>
              <a:rPr lang="en-US" dirty="0"/>
              <a:t>SPARQL.</a:t>
            </a:r>
          </a:p>
          <a:p>
            <a:pPr marL="514350" indent="-514350">
              <a:buFont typeface="+mj-lt"/>
              <a:buAutoNum type="romanUcPeriod"/>
            </a:pPr>
            <a:r>
              <a:rPr lang="ru-RU" dirty="0"/>
              <a:t>Адаптация и комбинация современных методов для решения конкретной задачи.</a:t>
            </a:r>
          </a:p>
          <a:p>
            <a:pPr marL="514350" indent="-514350">
              <a:buFont typeface="+mj-lt"/>
              <a:buAutoNum type="romanUcPeriod"/>
            </a:pPr>
            <a:r>
              <a:rPr lang="ru-RU" dirty="0"/>
              <a:t>Реализация с открытым исходным кодом может стать основой для дальнейших разработок в области семантического поиска и интеллектуальных ассистентов для работы с данными.</a:t>
            </a:r>
          </a:p>
        </p:txBody>
      </p:sp>
    </p:spTree>
    <p:extLst>
      <p:ext uri="{BB962C8B-B14F-4D97-AF65-F5344CB8AC3E}">
        <p14:creationId xmlns:p14="http://schemas.microsoft.com/office/powerpoint/2010/main" val="1358197797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82</TotalTime>
  <Words>459</Words>
  <Application>Microsoft Office PowerPoint</Application>
  <PresentationFormat>Широкоэкранный</PresentationFormat>
  <Paragraphs>43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Franklin Gothic Book</vt:lpstr>
      <vt:lpstr>quote-cjk-patch</vt:lpstr>
      <vt:lpstr>Уголки</vt:lpstr>
      <vt:lpstr>Выпускная квалификационная работа на тему “Генерация и верификация SPARQL-запросов с использованием LLM для навигации по графам знаний”</vt:lpstr>
      <vt:lpstr>Проблема и цель </vt:lpstr>
      <vt:lpstr>Источники данных и методы </vt:lpstr>
      <vt:lpstr>Презентация PowerPoint</vt:lpstr>
      <vt:lpstr>Что уже выполнено? </vt:lpstr>
      <vt:lpstr>План дальнейших работ </vt:lpstr>
      <vt:lpstr>Ожидаемый результат и значимость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Выпускная квалификационная работа на тему “Генерация и верификация SPARQL-запросов с использованием LLM для навигации по графам знаний”</dc:title>
  <dc:creator>Сергей Егорин</dc:creator>
  <cp:lastModifiedBy>Сергей Егорин</cp:lastModifiedBy>
  <cp:revision>5</cp:revision>
  <dcterms:created xsi:type="dcterms:W3CDTF">2026-01-11T17:01:55Z</dcterms:created>
  <dcterms:modified xsi:type="dcterms:W3CDTF">2026-01-11T18:24:52Z</dcterms:modified>
</cp:coreProperties>
</file>